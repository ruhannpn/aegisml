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188720"/>
            <a:ext cx="9448495" cy="448056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548640"/>
          <a:lstStyle/>
          <a:p>
            <a:pPr algn="ctr">
              <a:defRPr sz="1100" b="1">
                <a:solidFill>
                  <a:srgbClr val="F59E0B"/>
                </a:solidFill>
                <a:latin typeface="Inter"/>
              </a:defRPr>
            </a:pPr>
            <a:r>
              <a:t>REVIEW 2 ACADEMIC EVALUATION PRESENTATION</a:t>
            </a:r>
          </a:p>
          <a:p>
            <a:pPr>
              <a:defRPr sz="2600" b="1">
                <a:solidFill>
                  <a:srgbClr val="F3F4F6"/>
                </a:solidFill>
                <a:latin typeface="Inter"/>
              </a:defRPr>
            </a:pPr>
            <a:r>
              <a:t>AegisML: Autonomous Multi-Agent AI Data Science &amp; Governance Platform</a:t>
            </a:r>
          </a:p>
          <a:p>
            <a:br/>
            <a:pPr>
              <a:defRPr sz="1300">
                <a:solidFill>
                  <a:srgbClr val="9CA3AF"/>
                </a:solidFill>
                <a:latin typeface="Inter"/>
              </a:defRPr>
            </a:pPr>
            <a:r>
              <a:t>An auditable, human-in-the-loop multi-agent architecture featuring 6 specialized pipeline nodes (Data Analysis Agent, Planner Agent, Data Agent, Training Agent, Fairness Agent, Governance Gate) with automated quality retry loops and interactive human governance loops.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Inter"/>
              </a:defRPr>
            </a:pPr>
            <a:r>
              <a:t>CO2 MAPPED</a:t>
            </a:r>
          </a:p>
          <a:p>
            <a:pPr>
              <a:defRPr sz="2200" b="1">
                <a:solidFill>
                  <a:srgbClr val="F3F4F6"/>
                </a:solidFill>
                <a:latin typeface="Inter"/>
              </a:defRPr>
            </a:pPr>
            <a:r>
              <a:t>Parameter 1: Domain Understanding &amp; Problem Definition (3 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SELECTED DOMAIN &amp; CONTEXT</a:t>
            </a:r>
          </a:p>
          <a:p>
            <a:br/>
            <a:r>
              <a:t>• Domain: Automated Machine Learning (AutoML) &amp; Enterprise AI Governance.</a:t>
            </a:r>
            <a:br/>
            <a:r>
              <a:t>• Need: Modern ML deployment requires more than raw predictive power — it demands exploratory data analysis, data quality validation, algorithmic fairness checks, and regulatory compliance.</a:t>
            </a:r>
            <a:br/>
            <a:r>
              <a:t>• Current Gap: Conventional AutoML frameworks act as opaque 'black boxes', optimizing metrics while completely ignoring exploratory data profiling, fairness auditing, and human governance gates.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PROBLEM DEFINITION &amp; SIGNIFICANCE</a:t>
            </a:r>
          </a:p>
          <a:p>
            <a:br/>
            <a:r>
              <a:t>• Problem Statement: Unvetted AI deployment propagates historical demographic bias, risks silent data pipeline failures, and causes regulatory non-compliance (e.g., EU AI Act, Fair Credit Reporting Act).</a:t>
            </a:r>
            <a:br/>
            <a:r>
              <a:t>• Core Governance Constraints: Mandatory enforcement of Disparate Impact (≥0.80) and Demographic Parity Difference (≤0.10) thresholds.</a:t>
            </a:r>
            <a:br/>
            <a:r>
              <a:t>• Significance: Establishes a transparent, state-checkpointed multi-agent DAG pipeline where human auditors hold final veto authority over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Inter"/>
              </a:defRPr>
            </a:pPr>
            <a:r>
              <a:t>CO2 MAPPED</a:t>
            </a:r>
          </a:p>
          <a:p>
            <a:pPr>
              <a:defRPr sz="2200" b="1">
                <a:solidFill>
                  <a:srgbClr val="F3F4F6"/>
                </a:solidFill>
                <a:latin typeface="Inter"/>
              </a:defRPr>
            </a:pPr>
            <a:r>
              <a:t>Parameter 2: Literature / Patent Review &amp; Analysis of Existing Approaches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011680"/>
            <a:ext cx="9448495" cy="3291840"/>
          </a:xfrm>
          <a:prstGeom prst="roundRect">
            <a:avLst/>
          </a:prstGeom>
          <a:solidFill>
            <a:srgbClr val="111827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9CA3AF"/>
                </a:solidFill>
              </a:defRPr>
            </a:pPr>
            <a:br/>
            <a:br/>
            <a:r>
              <a:t>[ LITERATURE / PATENT REVIEW — RESERVED BLANK SLIDE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Inter"/>
              </a:defRPr>
            </a:pPr>
            <a:r>
              <a:t>CO2 &amp; CO4 MAPPED</a:t>
            </a:r>
          </a:p>
          <a:p>
            <a:pPr>
              <a:defRPr sz="2200" b="1">
                <a:solidFill>
                  <a:srgbClr val="F3F4F6"/>
                </a:solidFill>
                <a:latin typeface="Inter"/>
              </a:defRPr>
            </a:pPr>
            <a:r>
              <a:t>Parameter 3: Objectives, Scope &amp; Expected Outcomes (2 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PROJECT OBJECTIVES</a:t>
            </a:r>
          </a:p>
          <a:p>
            <a:br/>
            <a:r>
              <a:t>1. Architect a 6-node multi-agent pipeline (Data Analysis, Planner, Data, Training, Fairness, Governance Gate).</a:t>
            </a:r>
            <a:br/>
            <a:r>
              <a:t>2. Implement automated quality retry loops and interactive human governance reroute loops.</a:t>
            </a:r>
            <a:br/>
            <a:r>
              <a:t>3. Persist an unalterable SQLite audit log (`audit_log.db`).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PROJECT SCOPE</a:t>
            </a:r>
          </a:p>
          <a:p>
            <a:br/>
            <a:r>
              <a:t>• Tabular CSV datasets (Classification &amp; Regression).</a:t>
            </a:r>
            <a:br/>
            <a:r>
              <a:t>• Exploratory Data Profiling &amp; Interactive Chart Visualizations (Chart.js).</a:t>
            </a:r>
            <a:br/>
            <a:r>
              <a:t>• Ensemble training (RandomForest, XGBoost, Logistic/Ridge).</a:t>
            </a:r>
            <a:br/>
            <a:r>
              <a:t>• Subgroup fairness auditing &amp; FastAPI web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EXPECTED OUTCOMES</a:t>
            </a:r>
          </a:p>
          <a:p>
            <a:br/>
            <a:r>
              <a:t>• 80% reduction in manual data science pipeline setup.</a:t>
            </a:r>
            <a:br/>
            <a:r>
              <a:t>• Zero unvetted models deployed to production environments.</a:t>
            </a:r>
            <a:br/>
            <a:r>
              <a:t>• 100% persistent, queryable audit trail for corporate &amp; regulatory inspection.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Inter"/>
              </a:defRPr>
            </a:pPr>
            <a:r>
              <a:t>CO2 &amp; CO4 MAPPED</a:t>
            </a:r>
          </a:p>
          <a:p>
            <a:pPr>
              <a:defRPr sz="2200" b="1">
                <a:solidFill>
                  <a:srgbClr val="F3F4F6"/>
                </a:solidFill>
                <a:latin typeface="Inter"/>
              </a:defRPr>
            </a:pPr>
            <a:r>
              <a:t>Parameter 4: Proposed Methodology — 6 Pipeline Nodes (3 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MULTI-AGENT TOPOLOGY &amp; NODE RESPONSIBILITIES</a:t>
            </a:r>
          </a:p>
          <a:p>
            <a:r>
              <a:t>1. Data Analysis Agent (EDA Profiler): Computes column statistics, IQR outliers, Pearson feature correlations, target distributions, and chart payloads.</a:t>
            </a:r>
          </a:p>
          <a:p>
            <a:r>
              <a:t>2. Planner Agent (Groq LLM): Inspects schema metadata, detects data quality issues, pre-computes quality flags, and outputs a structured JSON plan.</a:t>
            </a:r>
          </a:p>
          <a:p>
            <a:r>
              <a:t>3. Data Agent (Pandas/Scikit-Learn): Executes data cleaning, handles missing value imputation, applies frequency encoding, and standardizes continuous features.</a:t>
            </a:r>
          </a:p>
          <a:p>
            <a:r>
              <a:t>4. Training Agent (Ensembles): Label-encodes target classes, fits candidate models (RandomForest, XGBoost, Logistic/Ridge), ranks leaderboard metrics, and extracts SHAP importances.</a:t>
            </a:r>
          </a:p>
          <a:p>
            <a:r>
              <a:t>5. Fairness Agent (Demographic Auditing): Evaluates Disparate Impact (≥0.80) and Demographic Parity Difference (≤0.10) across demographic subgroups.</a:t>
            </a:r>
          </a:p>
          <a:p>
            <a:r>
              <a:t>6. Governance Gate (Human Interrupt): Pauses execution, presents multi-agent evaluation results to human auditors, receives custom directives, and governs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Inter"/>
              </a:defRPr>
            </a:pPr>
            <a:r>
              <a:t>CO2 &amp; CO4 MAPPED</a:t>
            </a:r>
          </a:p>
          <a:p>
            <a:pPr>
              <a:defRPr sz="2200" b="1">
                <a:solidFill>
                  <a:srgbClr val="F3F4F6"/>
                </a:solidFill>
                <a:latin typeface="Inter"/>
              </a:defRPr>
            </a:pPr>
            <a:r>
              <a:t>Parameter 4 (Cont.): Governance Gate &amp; Reroute Mechanics (3 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1. APPROVE ROUTE</a:t>
            </a:r>
          </a:p>
          <a:p>
            <a:br/>
            <a:r>
              <a:t>• Action: Human auditor approves model performance and fairness report.</a:t>
            </a:r>
            <a:br/>
            <a:r>
              <a:t>• Outcome: Formally marks the winning model as APPROVED, saves metadata, and records the deployment event in `audit_log.db`.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2. REJECT — PLANNER</a:t>
            </a:r>
          </a:p>
          <a:p>
            <a:br/>
            <a:r>
              <a:t>• Action: Human auditor rejects due to data quality concerns.</a:t>
            </a:r>
            <a:br/>
            <a:r>
              <a:t>• Prompt Injection: Accepts custom text directives (e.g. 'Use median imputation for nulls').</a:t>
            </a:r>
            <a:br/>
            <a:r>
              <a:t>• Reroute Loop: Injects feedback directly into Groq LLM prompt to generate a revised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3. REJECT — TRAINING</a:t>
            </a:r>
          </a:p>
          <a:p>
            <a:br/>
            <a:r>
              <a:t>• Action: Human auditor rejects due to model choice or fairness failure.</a:t>
            </a:r>
            <a:br/>
            <a:r>
              <a:t>• Model Exclusion: Excludes the current winning model (`rejected_models`).</a:t>
            </a:r>
            <a:br/>
            <a:r>
              <a:t>• Reroute Loop: Retrains and selects the next best candidate algorithm.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Inter"/>
              </a:defRPr>
            </a:pPr>
            <a:r>
              <a:t>CO2 &amp; CO4 MAPPED</a:t>
            </a:r>
          </a:p>
          <a:p>
            <a:pPr>
              <a:defRPr sz="2200" b="1">
                <a:solidFill>
                  <a:srgbClr val="F3F4F6"/>
                </a:solidFill>
                <a:latin typeface="Inter"/>
              </a:defRPr>
            </a:pPr>
            <a:r>
              <a:t>Parameter 5: LangGraph DAG Flow Graph with Explicit Loop Arrows (3 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728655" cy="51206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0" y="1353312"/>
            <a:ext cx="6339535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/>
            </a:pPr>
            <a:r>
              <a:t>START: CSV Dataset Upload + Target Column &amp; Business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6916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874519"/>
            <a:ext cx="7253935" cy="420624"/>
          </a:xfrm>
          <a:prstGeom prst="roundRect">
            <a:avLst/>
          </a:prstGeom>
          <a:solidFill>
            <a:srgbClr val="1423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/>
            </a:pPr>
            <a:r>
              <a:t>📊 Data Analysis Agent Node (EDA Profiler &amp; Chart Visualizer)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Column Statistics | IQR Outliers | Pearson Feature Correlations | Target Distribution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2860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468880"/>
            <a:ext cx="7253935" cy="42062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/>
            </a:pPr>
            <a:r>
              <a:t>🧠 Planner Agent Node (Groq LLM)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Schema Analysis | Precomputed Quality Flags | Model Strategy Proposal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8803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3063240"/>
            <a:ext cx="7253935" cy="42062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/>
            </a:pPr>
            <a:r>
              <a:t>🧹 Data Agent Node (Pandas / Scikit-Learn)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Missing Value Imputation | Frequency Encoding | Categorical &amp; Continuous Feature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4747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3657600"/>
            <a:ext cx="7253935" cy="42062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/>
            </a:pPr>
            <a:r>
              <a:t>🏆 Training Agent Node (Ensemble Framework)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Target Class LabelEncoding | RandomForest &amp; XGBoost Fitting | SHAP Feature Importance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06908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4251960"/>
            <a:ext cx="7253935" cy="42062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/>
            </a:pPr>
            <a:r>
              <a:t>⚖️ Fairness Agent Node (Demographic Audit)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Subgroup Disparate Impact (≥0.80) | Demographic Parity Difference (≤0.10)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46634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4846320"/>
            <a:ext cx="7985455" cy="475488"/>
          </a:xfrm>
          <a:prstGeom prst="roundRect">
            <a:avLst/>
          </a:prstGeom>
          <a:solidFill>
            <a:srgbClr val="371E0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⏸️ Governance Gate Node (Human Interrupt Checkpoint)</a:t>
            </a:r>
          </a:p>
          <a:p>
            <a:pPr algn="ctr">
              <a:defRPr sz="800">
                <a:solidFill>
                  <a:srgbClr val="9CA3AF"/>
                </a:solidFill>
              </a:defRPr>
            </a:pPr>
            <a:r>
              <a:t>Pauses execution | Presents Multi-Agent Results | Receives Custom Directives &amp; Reroutes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914400" y="2560320"/>
            <a:ext cx="1371600" cy="822960"/>
          </a:xfrm>
          <a:prstGeom prst="leftArrow">
            <a:avLst/>
          </a:prstGeom>
          <a:solidFill>
            <a:srgbClr val="3C1E0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700" b="1">
                <a:solidFill>
                  <a:srgbClr val="F59E0B"/>
                </a:solidFill>
              </a:defRPr>
            </a:pPr>
            <a:r>
              <a:t>⬆ AUTO LOOP</a:t>
            </a:r>
            <a:br/>
            <a:r>
              <a:t>Data ➔ Planner</a:t>
            </a:r>
            <a:br/>
            <a:r>
              <a:t>(Quality Fail ≤2x)</a:t>
            </a:r>
          </a:p>
        </p:txBody>
      </p:sp>
      <p:sp>
        <p:nvSpPr>
          <p:cNvPr id="18" name="Up Arrow 17"/>
          <p:cNvSpPr/>
          <p:nvPr/>
        </p:nvSpPr>
        <p:spPr>
          <a:xfrm>
            <a:off x="9875520" y="2468880"/>
            <a:ext cx="1280160" cy="1097280"/>
          </a:xfrm>
          <a:prstGeom prst="upArrow">
            <a:avLst/>
          </a:prstGeom>
          <a:solidFill>
            <a:srgbClr val="280F2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700" b="1">
                <a:solidFill>
                  <a:srgbClr val="F59E0B"/>
                </a:solidFill>
              </a:defRPr>
            </a:pPr>
            <a:r>
              <a:t>⬆ HUMAN LOOP</a:t>
            </a:r>
            <a:br/>
            <a:r>
              <a:t>Gate ➔ Planner</a:t>
            </a:r>
            <a:br/>
            <a:r>
              <a:t>(Directives ≤2x)</a:t>
            </a:r>
          </a:p>
        </p:txBody>
      </p:sp>
      <p:sp>
        <p:nvSpPr>
          <p:cNvPr id="19" name="Up Arrow 18"/>
          <p:cNvSpPr/>
          <p:nvPr/>
        </p:nvSpPr>
        <p:spPr>
          <a:xfrm>
            <a:off x="9875520" y="3749039"/>
            <a:ext cx="1280160" cy="1097280"/>
          </a:xfrm>
          <a:prstGeom prst="upArrow">
            <a:avLst/>
          </a:prstGeom>
          <a:solidFill>
            <a:srgbClr val="280F28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/>
          <a:lstStyle/>
          <a:p>
            <a:pPr algn="ctr">
              <a:defRPr sz="700" b="1">
                <a:solidFill>
                  <a:srgbClr val="7C3AED"/>
                </a:solidFill>
              </a:defRPr>
            </a:pPr>
            <a:r>
              <a:t>⬆ HUMAN LOOP</a:t>
            </a:r>
            <a:br/>
            <a:r>
              <a:t>Gate ➔ Training</a:t>
            </a:r>
            <a:br/>
            <a:r>
              <a:t>(Exclusion ≤2x)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3F4F6"/>
                </a:solidFill>
              </a:defRPr>
            </a:pPr>
            <a:r>
              <a:t>DECISION BRANCHES: 🟢 APPROVE ➔ Log Deployment (`audit_log.db`) | 🟠 REJECT DATA ➔ Loop to Planner with Directives | 🔴 REJECT MODEL ➔ Loop to Training with Exclusion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Inter"/>
              </a:defRPr>
            </a:pPr>
            <a:r>
              <a:t>CO2 &amp; CO4 MAPPED</a:t>
            </a:r>
          </a:p>
          <a:p>
            <a:pPr>
              <a:defRPr sz="2200" b="1">
                <a:solidFill>
                  <a:srgbClr val="F3F4F6"/>
                </a:solidFill>
                <a:latin typeface="Inter"/>
              </a:defRPr>
            </a:pPr>
            <a:r>
              <a:t>Parameter 5 (Cont.): System Architecture &amp; Technical Specifications (3 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6366F1"/>
                </a:solidFill>
              </a:defRPr>
            </a:pPr>
            <a:r>
              <a:t>CORE BACKEND ENGINE &amp; STORAGE</a:t>
            </a:r>
          </a:p>
          <a:p>
            <a:br/>
            <a:r>
              <a:t>• Stateful LangGraph DAG Engine: Manages sequential execution across all 6 nodes with TypedDict state schemas.</a:t>
            </a:r>
            <a:br/>
            <a:br/>
            <a:r>
              <a:t>• Data Analysis Module (`data_analysis_agent.py`): Performs exploratory data profiling, outlier detection, and Chart.js payload generation.</a:t>
            </a:r>
            <a:br/>
            <a:br/>
            <a:r>
              <a:t>• SQLite Checkpointer (`pipeline_state.db`): Persists full state snapshots, enabling crash-recovery and clean interrupt pauses at the Governance Gate.</a:t>
            </a:r>
            <a:br/>
            <a:br/>
            <a:r>
              <a:t>• Audit Logger (`audit_log.db`): Immutable SQLite event store logging agent outputs, human decisions, and feedback 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WEB DASHBOARD &amp; INTERFACING PANELS</a:t>
            </a:r>
          </a:p>
          <a:p>
            <a:br/>
            <a:r>
              <a:t>• Enterprise Glassmorphism UI (`static/index.html`): Modern dark slate layout featuring 4 dedicated pages:</a:t>
            </a:r>
            <a:br/>
            <a:br/>
            <a:r>
              <a:t>  1. Setup &amp; Topology Page: Drag-and-drop CSV uploader, target dropdown, task-type auto-detection, and live DAG topology map.</a:t>
            </a:r>
            <a:br/>
            <a:br/>
            <a:r>
              <a:t>  2. Data Analysis &amp; Profiling Page: Interactive visual charts (Chart.js), EDA column statistics, feature correlations, and target analysis.</a:t>
            </a:r>
            <a:br/>
            <a:br/>
            <a:r>
              <a:t>  3. Governance Results Page: Winner KPI card, multi-agent evaluation tabs, and Governance Gate decision panel.</a:t>
            </a:r>
            <a:br/>
            <a:br/>
            <a:r>
              <a:t>  4. Audit Trail Page: Interactive chronological execution log.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Inter"/>
              </a:defRPr>
            </a:pPr>
            <a:r>
              <a:t>CO1, CO3 &amp; CO4 MAPPED</a:t>
            </a:r>
          </a:p>
          <a:p>
            <a:pPr>
              <a:defRPr sz="2200" b="1">
                <a:solidFill>
                  <a:srgbClr val="F3F4F6"/>
                </a:solidFill>
                <a:latin typeface="Inter"/>
              </a:defRPr>
            </a:pPr>
            <a:r>
              <a:t>Parameter 6: Technical Feasibility &amp; Risk Management (3 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SYSTEM FEASIBILITY &amp; TECHNICAL GUARDRAILS</a:t>
            </a:r>
          </a:p>
          <a:p>
            <a:br/>
            <a:r>
              <a:t>• Performance &amp; Latency: Proven 2.5–4.5 second end-to-end execution latency. Fast parallel model fitting (`n_jobs=-1`) and compressed Groq LLM prompts.</a:t>
            </a:r>
          </a:p>
          <a:p>
            <a:r>
              <a:t>• Groq 413 Token Overflow Mitigation: Smart schema truncation caps dataset summaries at 40 priority columns (target, sensitive hints, high-nulls), reducing prompt tokens from 10,166 to &lt; 1,800 on 1.4 GB datasets.</a:t>
            </a:r>
          </a:p>
          <a:p>
            <a:r>
              <a:t>• Target Encoding Guardrail: Automatic `LabelEncoder` conversion ensures 100% training compatibility for XGBoost across binary and multi-class targets.</a:t>
            </a:r>
          </a:p>
          <a:p>
            <a:r>
              <a:t>• Ethical &amp; Compliance Safeguards: Mandatory subgroup fairness auditing (Disparate Impact &amp; Demographic Parity Difference) and enforced human governance gates.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Inter"/>
              </a:defRPr>
            </a:pPr>
            <a:r>
              <a:t>CO1, CO3 &amp; CO4 MAPPED</a:t>
            </a:r>
          </a:p>
          <a:p>
            <a:pPr>
              <a:defRPr sz="2200" b="1">
                <a:solidFill>
                  <a:srgbClr val="F3F4F6"/>
                </a:solidFill>
                <a:latin typeface="Inter"/>
              </a:defRPr>
            </a:pPr>
            <a:r>
              <a:t>Parameter 6 (Cont.): Work Planning &amp; Module Breakdown (3 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MODULE BREAKDOWN &amp; RESPONSIBILITY MATRIX</a:t>
            </a:r>
          </a:p>
          <a:p>
            <a:br/>
            <a:r>
              <a:t>• Module 1 (State &amp; Orchestration): LangGraph DAG schema, state serialisation helpers (`df_to_bytes`/`bytes_to_df`), SQLite checkpointer.</a:t>
            </a:r>
          </a:p>
          <a:p>
            <a:r>
              <a:t>• Module 2 (Agent Intelligence): Data Analysis Agent (EDA/Chart.js), Groq LLM Planner, deterministic Data Agent, Ensemble Trainer with SHAP, Demographic Fairness Agent.</a:t>
            </a:r>
          </a:p>
          <a:p>
            <a:r>
              <a:t>• Module 3 (Governance &amp; Interrupts): Governance Gate node, custom directive prompt injection, model candidate exclusion logic.</a:t>
            </a:r>
          </a:p>
          <a:p>
            <a:r>
              <a:t>• Module 4 (REST API &amp; Web UI): FastAPI REST endpoints, SQLite audit logger, 4-page dark slate glassmorphism web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Inter"/>
              </a:defRPr>
            </a:pPr>
            <a:r>
              <a:t>CO3 &amp; CO4 MAPPED</a:t>
            </a:r>
          </a:p>
          <a:p>
            <a:pPr>
              <a:defRPr sz="2200" b="1">
                <a:solidFill>
                  <a:srgbClr val="F3F4F6"/>
                </a:solidFill>
                <a:latin typeface="Inter"/>
              </a:defRPr>
            </a:pPr>
            <a:r>
              <a:t>Parameter 7: Preliminary Results &amp; System Demonstration (3 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SYSTEM VERIFICATION &amp; EXPERIMENTAL OUTCOMES</a:t>
            </a:r>
          </a:p>
          <a:p>
            <a:br/>
            <a:r>
              <a:t>• Empirical Dataset Testing: Validated across Wine Quality (`winetrain-cluster.csv`), Adult Income, and Walmart Sales datasets.</a:t>
            </a:r>
          </a:p>
          <a:p>
            <a:r>
              <a:t>• Verification Outcomes: Demonstrated multi-model training, dynamic metric leaderboards (Accuracy vs RMSE), SHAP feature importance extraction, and demographic fairness checking.</a:t>
            </a:r>
          </a:p>
          <a:p>
            <a:r>
              <a:t>• Model Rejection Reroute Verification: Rejecting a winning model excludes it from state (`rejected_models`) and trains remaining candidates on the next pass.</a:t>
            </a:r>
          </a:p>
          <a:p>
            <a:r>
              <a:t>• Live Application: Fully operational FastAPI REST server (`server.py`) running live at `http://localhost:8000`.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